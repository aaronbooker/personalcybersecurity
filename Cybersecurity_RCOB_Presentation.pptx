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62"/>
    <p:restoredTop sz="94610"/>
  </p:normalViewPr>
  <p:slideViewPr>
    <p:cSldViewPr snapToGrid="0" snapToObjects="1">
      <p:cViewPr varScale="1">
        <p:scale>
          <a:sx n="251" d="100"/>
          <a:sy n="251" d="100"/>
        </p:scale>
        <p:origin x="816"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19915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haveibeenpwned.com/"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1.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114800" y="640080"/>
            <a:ext cx="914400" cy="914400"/>
          </a:xfrm>
          <a:prstGeom prst="rect">
            <a:avLst/>
          </a:prstGeom>
        </p:spPr>
      </p:pic>
      <p:sp>
        <p:nvSpPr>
          <p:cNvPr id="4" name="Text 1"/>
          <p:cNvSpPr/>
          <p:nvPr/>
        </p:nvSpPr>
        <p:spPr>
          <a:xfrm>
            <a:off x="731520" y="1691640"/>
            <a:ext cx="7680960" cy="1280160"/>
          </a:xfrm>
          <a:prstGeom prst="rect">
            <a:avLst/>
          </a:prstGeom>
          <a:noFill/>
          <a:ln/>
        </p:spPr>
        <p:txBody>
          <a:bodyPr wrap="square" rtlCol="0" anchor="ctr"/>
          <a:lstStyle/>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Your Money, Your Identity,</a:t>
            </a:r>
            <a:endParaRPr lang="en-US" sz="3600" dirty="0"/>
          </a:p>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Your Peace of Mind</a:t>
            </a:r>
            <a:endParaRPr lang="en-US" sz="3600" dirty="0"/>
          </a:p>
        </p:txBody>
      </p:sp>
      <p:sp>
        <p:nvSpPr>
          <p:cNvPr id="5" name="Text 2"/>
          <p:cNvSpPr/>
          <p:nvPr/>
        </p:nvSpPr>
        <p:spPr>
          <a:xfrm>
            <a:off x="731520" y="3017520"/>
            <a:ext cx="7680960" cy="457200"/>
          </a:xfrm>
          <a:prstGeom prst="rect">
            <a:avLst/>
          </a:prstGeom>
          <a:noFill/>
          <a:ln/>
        </p:spPr>
        <p:txBody>
          <a:bodyPr wrap="square" rtlCol="0" anchor="ctr"/>
          <a:lstStyle/>
          <a:p>
            <a:pPr marL="0" indent="0" algn="ctr">
              <a:buNone/>
            </a:pPr>
            <a:r>
              <a:rPr lang="en-US" sz="2000" i="1" dirty="0">
                <a:solidFill>
                  <a:srgbClr val="14B8A6"/>
                </a:solidFill>
                <a:latin typeface="Calibri" pitchFamily="34" charset="0"/>
                <a:ea typeface="Calibri" pitchFamily="34" charset="-122"/>
                <a:cs typeface="Calibri" pitchFamily="34" charset="-120"/>
              </a:rPr>
              <a:t>A Modern Protection Guide</a:t>
            </a:r>
            <a:endParaRPr lang="en-US" sz="2000" dirty="0"/>
          </a:p>
        </p:txBody>
      </p:sp>
      <p:sp>
        <p:nvSpPr>
          <p:cNvPr id="6" name="Shape 3"/>
          <p:cNvSpPr/>
          <p:nvPr/>
        </p:nvSpPr>
        <p:spPr>
          <a:xfrm>
            <a:off x="3200400" y="3657600"/>
            <a:ext cx="2743200" cy="0"/>
          </a:xfrm>
          <a:prstGeom prst="line">
            <a:avLst/>
          </a:prstGeom>
          <a:noFill/>
          <a:ln w="25400">
            <a:solidFill>
              <a:srgbClr val="0D9488"/>
            </a:solidFill>
            <a:prstDash val="solid"/>
          </a:ln>
        </p:spPr>
        <p:txBody>
          <a:bodyPr/>
          <a:lstStyle/>
          <a:p>
            <a:endParaRPr lang="en-US"/>
          </a:p>
        </p:txBody>
      </p:sp>
      <p:sp>
        <p:nvSpPr>
          <p:cNvPr id="7" name="Text 4"/>
          <p:cNvSpPr/>
          <p:nvPr/>
        </p:nvSpPr>
        <p:spPr>
          <a:xfrm>
            <a:off x="731520" y="3931920"/>
            <a:ext cx="7680960" cy="365760"/>
          </a:xfrm>
          <a:prstGeom prst="rect">
            <a:avLst/>
          </a:prstGeom>
          <a:noFill/>
          <a:ln/>
        </p:spPr>
        <p:txBody>
          <a:bodyPr wrap="square" rtlCol="0" anchor="ctr"/>
          <a:lstStyle/>
          <a:p>
            <a:pPr marL="0" indent="0" algn="ctr">
              <a:buNone/>
            </a:pPr>
            <a:r>
              <a:rPr lang="en-US" sz="1600" dirty="0">
                <a:solidFill>
                  <a:srgbClr val="94A3B8"/>
                </a:solidFill>
                <a:latin typeface="Calibri" pitchFamily="34" charset="0"/>
                <a:ea typeface="Calibri" pitchFamily="34" charset="-122"/>
                <a:cs typeface="Calibri" pitchFamily="34" charset="-120"/>
              </a:rPr>
              <a:t>Aaron Booker  •  Rotary Club of Bellingham</a:t>
            </a:r>
            <a:endParaRPr lang="en-US" sz="1600" dirty="0"/>
          </a:p>
        </p:txBody>
      </p:sp>
      <p:sp>
        <p:nvSpPr>
          <p:cNvPr id="8" name="Text 5"/>
          <p:cNvSpPr/>
          <p:nvPr/>
        </p:nvSpPr>
        <p:spPr>
          <a:xfrm>
            <a:off x="731520" y="4297680"/>
            <a:ext cx="7680960" cy="320040"/>
          </a:xfrm>
          <a:prstGeom prst="rect">
            <a:avLst/>
          </a:prstGeom>
          <a:noFill/>
          <a:ln/>
        </p:spPr>
        <p:txBody>
          <a:bodyPr wrap="square" rtlCol="0" anchor="ctr"/>
          <a:lstStyle/>
          <a:p>
            <a:pPr marL="0" indent="0" algn="ctr">
              <a:buNone/>
            </a:pPr>
            <a:r>
              <a:rPr lang="en-US" sz="1400" dirty="0">
                <a:solidFill>
                  <a:srgbClr val="94A3B8"/>
                </a:solidFill>
                <a:latin typeface="Calibri" pitchFamily="34" charset="0"/>
                <a:ea typeface="Calibri" pitchFamily="34" charset="-122"/>
                <a:cs typeface="Calibri" pitchFamily="34" charset="-120"/>
              </a:rPr>
              <a:t>February 23,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65760"/>
            <a:ext cx="7863840" cy="640080"/>
          </a:xfrm>
          <a:prstGeom prst="rect">
            <a:avLst/>
          </a:prstGeom>
          <a:noFill/>
          <a:ln/>
        </p:spPr>
        <p:txBody>
          <a:bodyPr wrap="square" lIns="0" tIns="0" rIns="0" bIns="0" rtlCol="0" anchor="ctr"/>
          <a:lstStyle/>
          <a:p>
            <a:pPr marL="0" indent="0">
              <a:buNone/>
            </a:pPr>
            <a:r>
              <a:rPr lang="en-US" sz="3400" b="1" dirty="0">
                <a:solidFill>
                  <a:srgbClr val="0F1B2D"/>
                </a:solidFill>
                <a:latin typeface="Georgia" pitchFamily="34" charset="0"/>
                <a:ea typeface="Georgia" pitchFamily="34" charset="-122"/>
                <a:cs typeface="Georgia" pitchFamily="34" charset="-120"/>
              </a:rPr>
              <a:t>Why This Matters</a:t>
            </a:r>
            <a:endParaRPr lang="en-US" sz="3400" dirty="0"/>
          </a:p>
        </p:txBody>
      </p:sp>
      <p:sp>
        <p:nvSpPr>
          <p:cNvPr id="3" name="Shape 1"/>
          <p:cNvSpPr/>
          <p:nvPr/>
        </p:nvSpPr>
        <p:spPr>
          <a:xfrm>
            <a:off x="640080" y="1280160"/>
            <a:ext cx="2560320" cy="2194560"/>
          </a:xfrm>
          <a:prstGeom prst="rect">
            <a:avLst/>
          </a:prstGeom>
          <a:solidFill>
            <a:srgbClr val="FFFFFF"/>
          </a:solidFill>
          <a:ln/>
          <a:effectLst>
            <a:outerShdw blurRad="101600" dist="25400" dir="8100000" algn="bl" rotWithShape="0">
              <a:srgbClr val="000000">
                <a:alpha val="12000"/>
              </a:srgbClr>
            </a:outerShdw>
          </a:effectLst>
        </p:spPr>
        <p:txBody>
          <a:bodyPr/>
          <a:lstStyle/>
          <a:p>
            <a:endParaRPr lang="en-US"/>
          </a:p>
        </p:txBody>
      </p:sp>
      <p:sp>
        <p:nvSpPr>
          <p:cNvPr id="4" name="Shape 2"/>
          <p:cNvSpPr/>
          <p:nvPr/>
        </p:nvSpPr>
        <p:spPr>
          <a:xfrm>
            <a:off x="640080" y="1280160"/>
            <a:ext cx="2560320" cy="54864"/>
          </a:xfrm>
          <a:prstGeom prst="rect">
            <a:avLst/>
          </a:prstGeom>
          <a:solidFill>
            <a:srgbClr val="EF4444"/>
          </a:solidFill>
          <a:ln/>
        </p:spPr>
        <p:txBody>
          <a:bodyPr/>
          <a:lstStyle/>
          <a:p>
            <a:endParaRPr lang="en-US"/>
          </a:p>
        </p:txBody>
      </p:sp>
      <p:sp>
        <p:nvSpPr>
          <p:cNvPr id="5" name="Text 3"/>
          <p:cNvSpPr/>
          <p:nvPr/>
        </p:nvSpPr>
        <p:spPr>
          <a:xfrm>
            <a:off x="640080" y="1508760"/>
            <a:ext cx="2560320" cy="822960"/>
          </a:xfrm>
          <a:prstGeom prst="rect">
            <a:avLst/>
          </a:prstGeom>
          <a:noFill/>
          <a:ln/>
        </p:spPr>
        <p:txBody>
          <a:bodyPr wrap="square" lIns="0" tIns="0" rIns="0" bIns="0" rtlCol="0" anchor="ctr"/>
          <a:lstStyle/>
          <a:p>
            <a:pPr marL="0" indent="0" algn="ctr">
              <a:buNone/>
            </a:pPr>
            <a:r>
              <a:rPr lang="en-US" sz="4200" b="1" dirty="0">
                <a:solidFill>
                  <a:srgbClr val="EF4444"/>
                </a:solidFill>
                <a:latin typeface="Georgia" pitchFamily="34" charset="0"/>
                <a:ea typeface="Georgia" pitchFamily="34" charset="-122"/>
                <a:cs typeface="Georgia" pitchFamily="34" charset="-120"/>
              </a:rPr>
              <a:t>$28.6B</a:t>
            </a:r>
            <a:endParaRPr lang="en-US" sz="4200" dirty="0"/>
          </a:p>
        </p:txBody>
      </p:sp>
      <p:sp>
        <p:nvSpPr>
          <p:cNvPr id="6" name="Text 4"/>
          <p:cNvSpPr/>
          <p:nvPr/>
        </p:nvSpPr>
        <p:spPr>
          <a:xfrm>
            <a:off x="822960" y="2423160"/>
            <a:ext cx="2194560" cy="822960"/>
          </a:xfrm>
          <a:prstGeom prst="rect">
            <a:avLst/>
          </a:prstGeom>
          <a:noFill/>
          <a:ln/>
        </p:spPr>
        <p:txBody>
          <a:bodyPr wrap="square" rtlCol="0" anchor="t"/>
          <a:lstStyle/>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Lost to fraud by</a:t>
            </a:r>
            <a:endParaRPr lang="en-US" sz="1300" dirty="0"/>
          </a:p>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Americans 65+ in 2024</a:t>
            </a:r>
            <a:endParaRPr lang="en-US" sz="1300" dirty="0"/>
          </a:p>
        </p:txBody>
      </p:sp>
      <p:sp>
        <p:nvSpPr>
          <p:cNvPr id="7" name="Shape 5"/>
          <p:cNvSpPr/>
          <p:nvPr/>
        </p:nvSpPr>
        <p:spPr>
          <a:xfrm>
            <a:off x="3474720" y="1280160"/>
            <a:ext cx="2560320" cy="2194560"/>
          </a:xfrm>
          <a:prstGeom prst="rect">
            <a:avLst/>
          </a:prstGeom>
          <a:solidFill>
            <a:srgbClr val="FFFFFF"/>
          </a:solidFill>
          <a:ln/>
          <a:effectLst>
            <a:outerShdw blurRad="101600" dist="25400" dir="8100000" algn="bl" rotWithShape="0">
              <a:srgbClr val="000000">
                <a:alpha val="12000"/>
              </a:srgbClr>
            </a:outerShdw>
          </a:effectLst>
        </p:spPr>
        <p:txBody>
          <a:bodyPr/>
          <a:lstStyle/>
          <a:p>
            <a:endParaRPr lang="en-US"/>
          </a:p>
        </p:txBody>
      </p:sp>
      <p:sp>
        <p:nvSpPr>
          <p:cNvPr id="8" name="Shape 6"/>
          <p:cNvSpPr/>
          <p:nvPr/>
        </p:nvSpPr>
        <p:spPr>
          <a:xfrm>
            <a:off x="3474720" y="1280160"/>
            <a:ext cx="2560320" cy="54864"/>
          </a:xfrm>
          <a:prstGeom prst="rect">
            <a:avLst/>
          </a:prstGeom>
          <a:solidFill>
            <a:srgbClr val="F59E0B"/>
          </a:solidFill>
          <a:ln/>
        </p:spPr>
        <p:txBody>
          <a:bodyPr/>
          <a:lstStyle/>
          <a:p>
            <a:endParaRPr lang="en-US"/>
          </a:p>
        </p:txBody>
      </p:sp>
      <p:sp>
        <p:nvSpPr>
          <p:cNvPr id="9" name="Text 7"/>
          <p:cNvSpPr/>
          <p:nvPr/>
        </p:nvSpPr>
        <p:spPr>
          <a:xfrm>
            <a:off x="3474720" y="1508760"/>
            <a:ext cx="2560320" cy="822960"/>
          </a:xfrm>
          <a:prstGeom prst="rect">
            <a:avLst/>
          </a:prstGeom>
          <a:noFill/>
          <a:ln/>
        </p:spPr>
        <p:txBody>
          <a:bodyPr wrap="square" lIns="0" tIns="0" rIns="0" bIns="0" rtlCol="0" anchor="ctr"/>
          <a:lstStyle/>
          <a:p>
            <a:pPr marL="0" indent="0" algn="ctr">
              <a:buNone/>
            </a:pPr>
            <a:r>
              <a:rPr lang="en-US" sz="4200" b="1" dirty="0">
                <a:solidFill>
                  <a:srgbClr val="F59E0B"/>
                </a:solidFill>
                <a:latin typeface="Georgia" pitchFamily="34" charset="0"/>
                <a:ea typeface="Georgia" pitchFamily="34" charset="-122"/>
                <a:cs typeface="Georgia" pitchFamily="34" charset="-120"/>
              </a:rPr>
              <a:t>1 in 3</a:t>
            </a:r>
            <a:endParaRPr lang="en-US" sz="4200" dirty="0"/>
          </a:p>
        </p:txBody>
      </p:sp>
      <p:sp>
        <p:nvSpPr>
          <p:cNvPr id="10" name="Text 8"/>
          <p:cNvSpPr/>
          <p:nvPr/>
        </p:nvSpPr>
        <p:spPr>
          <a:xfrm>
            <a:off x="3657600" y="2423160"/>
            <a:ext cx="2194560" cy="822960"/>
          </a:xfrm>
          <a:prstGeom prst="rect">
            <a:avLst/>
          </a:prstGeom>
          <a:noFill/>
          <a:ln/>
        </p:spPr>
        <p:txBody>
          <a:bodyPr wrap="square" rtlCol="0" anchor="t"/>
          <a:lstStyle/>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Adults over 60 targeted</a:t>
            </a:r>
            <a:endParaRPr lang="en-US" sz="1300" dirty="0"/>
          </a:p>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by scams each year</a:t>
            </a:r>
            <a:endParaRPr lang="en-US" sz="1300" dirty="0"/>
          </a:p>
        </p:txBody>
      </p:sp>
      <p:sp>
        <p:nvSpPr>
          <p:cNvPr id="11" name="Shape 9"/>
          <p:cNvSpPr/>
          <p:nvPr/>
        </p:nvSpPr>
        <p:spPr>
          <a:xfrm>
            <a:off x="6309360" y="1280160"/>
            <a:ext cx="2560320" cy="2194560"/>
          </a:xfrm>
          <a:prstGeom prst="rect">
            <a:avLst/>
          </a:prstGeom>
          <a:solidFill>
            <a:srgbClr val="FFFFFF"/>
          </a:solidFill>
          <a:ln/>
          <a:effectLst>
            <a:outerShdw blurRad="101600" dist="25400" dir="8100000" algn="bl" rotWithShape="0">
              <a:srgbClr val="000000">
                <a:alpha val="12000"/>
              </a:srgbClr>
            </a:outerShdw>
          </a:effectLst>
        </p:spPr>
        <p:txBody>
          <a:bodyPr/>
          <a:lstStyle/>
          <a:p>
            <a:endParaRPr lang="en-US"/>
          </a:p>
        </p:txBody>
      </p:sp>
      <p:sp>
        <p:nvSpPr>
          <p:cNvPr id="12" name="Shape 10"/>
          <p:cNvSpPr/>
          <p:nvPr/>
        </p:nvSpPr>
        <p:spPr>
          <a:xfrm>
            <a:off x="6309360" y="1280160"/>
            <a:ext cx="2560320" cy="54864"/>
          </a:xfrm>
          <a:prstGeom prst="rect">
            <a:avLst/>
          </a:prstGeom>
          <a:solidFill>
            <a:srgbClr val="0D9488"/>
          </a:solidFill>
          <a:ln/>
        </p:spPr>
        <p:txBody>
          <a:bodyPr/>
          <a:lstStyle/>
          <a:p>
            <a:endParaRPr lang="en-US"/>
          </a:p>
        </p:txBody>
      </p:sp>
      <p:sp>
        <p:nvSpPr>
          <p:cNvPr id="13" name="Text 11"/>
          <p:cNvSpPr/>
          <p:nvPr/>
        </p:nvSpPr>
        <p:spPr>
          <a:xfrm>
            <a:off x="6309360" y="1508760"/>
            <a:ext cx="2560320" cy="822960"/>
          </a:xfrm>
          <a:prstGeom prst="rect">
            <a:avLst/>
          </a:prstGeom>
          <a:noFill/>
          <a:ln/>
        </p:spPr>
        <p:txBody>
          <a:bodyPr wrap="square" lIns="0" tIns="0" rIns="0" bIns="0" rtlCol="0" anchor="ctr"/>
          <a:lstStyle/>
          <a:p>
            <a:pPr marL="0" indent="0" algn="ctr">
              <a:buNone/>
            </a:pPr>
            <a:r>
              <a:rPr lang="en-US" sz="4200" b="1" dirty="0">
                <a:solidFill>
                  <a:srgbClr val="0D9488"/>
                </a:solidFill>
                <a:latin typeface="Georgia" pitchFamily="34" charset="0"/>
                <a:ea typeface="Georgia" pitchFamily="34" charset="-122"/>
                <a:cs typeface="Georgia" pitchFamily="34" charset="-120"/>
              </a:rPr>
              <a:t>101%</a:t>
            </a:r>
            <a:endParaRPr lang="en-US" sz="4200" dirty="0"/>
          </a:p>
        </p:txBody>
      </p:sp>
      <p:sp>
        <p:nvSpPr>
          <p:cNvPr id="14" name="Text 12"/>
          <p:cNvSpPr/>
          <p:nvPr/>
        </p:nvSpPr>
        <p:spPr>
          <a:xfrm>
            <a:off x="6492240" y="2423160"/>
            <a:ext cx="2194560" cy="822960"/>
          </a:xfrm>
          <a:prstGeom prst="rect">
            <a:avLst/>
          </a:prstGeom>
          <a:noFill/>
          <a:ln/>
        </p:spPr>
        <p:txBody>
          <a:bodyPr wrap="square" rtlCol="0" anchor="t"/>
          <a:lstStyle/>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Increase in elder fraud</a:t>
            </a:r>
            <a:endParaRPr lang="en-US" sz="1300" dirty="0"/>
          </a:p>
          <a:p>
            <a:pPr marL="0" indent="0" algn="ctr">
              <a:lnSpc>
                <a:spcPct val="120000"/>
              </a:lnSpc>
              <a:buNone/>
            </a:pPr>
            <a:r>
              <a:rPr lang="en-US" sz="1300" dirty="0">
                <a:solidFill>
                  <a:srgbClr val="1E293B"/>
                </a:solidFill>
                <a:latin typeface="Calibri" pitchFamily="34" charset="0"/>
                <a:ea typeface="Calibri" pitchFamily="34" charset="-122"/>
                <a:cs typeface="Calibri" pitchFamily="34" charset="-120"/>
              </a:rPr>
              <a:t>since 2020</a:t>
            </a:r>
            <a:endParaRPr lang="en-US" sz="1300" dirty="0"/>
          </a:p>
        </p:txBody>
      </p:sp>
      <p:sp>
        <p:nvSpPr>
          <p:cNvPr id="15" name="Text 13"/>
          <p:cNvSpPr/>
          <p:nvPr/>
        </p:nvSpPr>
        <p:spPr>
          <a:xfrm>
            <a:off x="640080" y="3840480"/>
            <a:ext cx="7863840" cy="457200"/>
          </a:xfrm>
          <a:prstGeom prst="rect">
            <a:avLst/>
          </a:prstGeom>
          <a:noFill/>
          <a:ln/>
        </p:spPr>
        <p:txBody>
          <a:bodyPr wrap="square" rtlCol="0" anchor="ctr"/>
          <a:lstStyle/>
          <a:p>
            <a:pPr marL="0" indent="0" algn="ctr">
              <a:buNone/>
            </a:pPr>
            <a:r>
              <a:rPr lang="en-US" sz="1600" b="1" i="1" dirty="0">
                <a:solidFill>
                  <a:srgbClr val="0D9488"/>
                </a:solidFill>
                <a:latin typeface="Calibri" pitchFamily="34" charset="0"/>
                <a:ea typeface="Calibri" pitchFamily="34" charset="-122"/>
                <a:cs typeface="Calibri" pitchFamily="34" charset="-120"/>
              </a:rPr>
              <a:t>The good news: simple steps can dramatically reduce your risk.</a:t>
            </a:r>
            <a:endParaRPr lang="en-US" sz="1600" dirty="0"/>
          </a:p>
        </p:txBody>
      </p:sp>
      <p:sp>
        <p:nvSpPr>
          <p:cNvPr id="16"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65760"/>
            <a:ext cx="7863840" cy="640080"/>
          </a:xfrm>
          <a:prstGeom prst="rect">
            <a:avLst/>
          </a:prstGeom>
          <a:noFill/>
          <a:ln/>
        </p:spPr>
        <p:txBody>
          <a:bodyPr wrap="square" lIns="0" tIns="0" rIns="0" bIns="0" rtlCol="0" anchor="ctr"/>
          <a:lstStyle/>
          <a:p>
            <a:pPr marL="0" indent="0">
              <a:buNone/>
            </a:pPr>
            <a:r>
              <a:rPr lang="en-US" sz="3400" b="1" dirty="0">
                <a:solidFill>
                  <a:srgbClr val="0F1B2D"/>
                </a:solidFill>
                <a:latin typeface="Georgia" pitchFamily="34" charset="0"/>
                <a:ea typeface="Georgia" pitchFamily="34" charset="-122"/>
                <a:cs typeface="Georgia" pitchFamily="34" charset="-120"/>
              </a:rPr>
              <a:t>Today's Roadmap</a:t>
            </a:r>
            <a:endParaRPr lang="en-US" sz="3400" dirty="0"/>
          </a:p>
        </p:txBody>
      </p:sp>
      <p:sp>
        <p:nvSpPr>
          <p:cNvPr id="3" name="Shape 1"/>
          <p:cNvSpPr/>
          <p:nvPr/>
        </p:nvSpPr>
        <p:spPr>
          <a:xfrm>
            <a:off x="640080" y="1234440"/>
            <a:ext cx="3749040" cy="3017520"/>
          </a:xfrm>
          <a:prstGeom prst="rect">
            <a:avLst/>
          </a:prstGeom>
          <a:solidFill>
            <a:srgbClr val="0F1B2D"/>
          </a:solidFill>
          <a:ln/>
          <a:effectLst>
            <a:outerShdw blurRad="1016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2240280" y="1463040"/>
            <a:ext cx="548640" cy="548640"/>
          </a:xfrm>
          <a:prstGeom prst="rect">
            <a:avLst/>
          </a:prstGeom>
        </p:spPr>
      </p:pic>
      <p:sp>
        <p:nvSpPr>
          <p:cNvPr id="5" name="Text 2"/>
          <p:cNvSpPr/>
          <p:nvPr/>
        </p:nvSpPr>
        <p:spPr>
          <a:xfrm>
            <a:off x="822960" y="2103120"/>
            <a:ext cx="338328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5 Rules to Live By</a:t>
            </a:r>
            <a:endParaRPr lang="en-US" sz="2000" dirty="0"/>
          </a:p>
        </p:txBody>
      </p:sp>
      <p:sp>
        <p:nvSpPr>
          <p:cNvPr id="6" name="Text 3"/>
          <p:cNvSpPr/>
          <p:nvPr/>
        </p:nvSpPr>
        <p:spPr>
          <a:xfrm>
            <a:off x="1188720" y="2606040"/>
            <a:ext cx="2834640" cy="1554480"/>
          </a:xfrm>
          <a:prstGeom prst="rect">
            <a:avLst/>
          </a:prstGeom>
          <a:noFill/>
          <a:ln/>
        </p:spPr>
        <p:txBody>
          <a:bodyPr wrap="square" rtlCol="0" anchor="ctr"/>
          <a:lstStyle/>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Urgency is Your Enemy</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Question Everything</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Don't Talk to Strangers</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Technology: Friend &amp; Foe</a:t>
            </a:r>
            <a:endParaRPr lang="en-US" sz="1400" dirty="0"/>
          </a:p>
          <a:p>
            <a:pPr marL="342900" indent="-342900">
              <a:spcAft>
                <a:spcPts val="400"/>
              </a:spcAft>
              <a:buSzPct val="100000"/>
              <a:buChar char="•"/>
            </a:pPr>
            <a:r>
              <a:rPr lang="en-US" sz="1400" dirty="0">
                <a:solidFill>
                  <a:srgbClr val="5EEAD4"/>
                </a:solidFill>
                <a:latin typeface="Calibri" pitchFamily="34" charset="0"/>
                <a:ea typeface="Calibri" pitchFamily="34" charset="-122"/>
                <a:cs typeface="Calibri" pitchFamily="34" charset="-120"/>
              </a:rPr>
              <a:t>Credit Cards Over Debit</a:t>
            </a:r>
            <a:endParaRPr lang="en-US" sz="1400" dirty="0"/>
          </a:p>
        </p:txBody>
      </p:sp>
      <p:sp>
        <p:nvSpPr>
          <p:cNvPr id="7" name="Shape 4"/>
          <p:cNvSpPr/>
          <p:nvPr/>
        </p:nvSpPr>
        <p:spPr>
          <a:xfrm>
            <a:off x="4754880" y="1234440"/>
            <a:ext cx="3749040" cy="3017520"/>
          </a:xfrm>
          <a:prstGeom prst="rect">
            <a:avLst/>
          </a:prstGeom>
          <a:solidFill>
            <a:srgbClr val="0D9488"/>
          </a:solidFill>
          <a:ln/>
          <a:effectLst>
            <a:outerShdw blurRad="1016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6355080" y="1463040"/>
            <a:ext cx="548640" cy="548640"/>
          </a:xfrm>
          <a:prstGeom prst="rect">
            <a:avLst/>
          </a:prstGeom>
        </p:spPr>
      </p:pic>
      <p:sp>
        <p:nvSpPr>
          <p:cNvPr id="9" name="Text 5"/>
          <p:cNvSpPr/>
          <p:nvPr/>
        </p:nvSpPr>
        <p:spPr>
          <a:xfrm>
            <a:off x="4937760" y="2103120"/>
            <a:ext cx="338328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5 Things to Do This Week</a:t>
            </a:r>
            <a:endParaRPr lang="en-US" sz="2000" dirty="0"/>
          </a:p>
        </p:txBody>
      </p:sp>
      <p:sp>
        <p:nvSpPr>
          <p:cNvPr id="10" name="Text 6"/>
          <p:cNvSpPr/>
          <p:nvPr/>
        </p:nvSpPr>
        <p:spPr>
          <a:xfrm>
            <a:off x="5303520" y="2606040"/>
            <a:ext cx="2834640" cy="1554480"/>
          </a:xfrm>
          <a:prstGeom prst="rect">
            <a:avLst/>
          </a:prstGeom>
          <a:noFill/>
          <a:ln/>
        </p:spPr>
        <p:txBody>
          <a:bodyPr wrap="square" rtlCol="0" anchor="ctr"/>
          <a:lstStyle/>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Freeze Your Credit</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Get a Password Manager</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Turn On Two-Factor Auth</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Update Everything</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Back Up Your Data</a:t>
            </a:r>
            <a:endParaRPr lang="en-US" sz="1400" dirty="0"/>
          </a:p>
        </p:txBody>
      </p:sp>
      <p:sp>
        <p:nvSpPr>
          <p:cNvPr id="11" name="Shape 7"/>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sp>
        <p:nvSpPr>
          <p:cNvPr id="3" name="Text 1"/>
          <p:cNvSpPr/>
          <p:nvPr/>
        </p:nvSpPr>
        <p:spPr>
          <a:xfrm>
            <a:off x="731520" y="1371600"/>
            <a:ext cx="7680960" cy="457200"/>
          </a:xfrm>
          <a:prstGeom prst="rect">
            <a:avLst/>
          </a:prstGeom>
          <a:noFill/>
          <a:ln/>
        </p:spPr>
        <p:txBody>
          <a:bodyPr wrap="square" rtlCol="0" anchor="ctr"/>
          <a:lstStyle/>
          <a:p>
            <a:pPr marL="0" indent="0" algn="ctr">
              <a:buNone/>
            </a:pPr>
            <a:r>
              <a:rPr lang="en-US" sz="1400" b="1" kern="0" spc="600" dirty="0">
                <a:solidFill>
                  <a:srgbClr val="14B8A6"/>
                </a:solidFill>
                <a:latin typeface="Calibri" pitchFamily="34" charset="0"/>
                <a:ea typeface="Calibri" pitchFamily="34" charset="-122"/>
                <a:cs typeface="Calibri" pitchFamily="34" charset="-120"/>
              </a:rPr>
              <a:t>PART ONE</a:t>
            </a:r>
            <a:endParaRPr lang="en-US" sz="1400" dirty="0"/>
          </a:p>
        </p:txBody>
      </p:sp>
      <p:sp>
        <p:nvSpPr>
          <p:cNvPr id="4" name="Text 2"/>
          <p:cNvSpPr/>
          <p:nvPr/>
        </p:nvSpPr>
        <p:spPr>
          <a:xfrm>
            <a:off x="731520" y="1920240"/>
            <a:ext cx="7680960" cy="914400"/>
          </a:xfrm>
          <a:prstGeom prst="rect">
            <a:avLst/>
          </a:prstGeom>
          <a:noFill/>
          <a:ln/>
        </p:spPr>
        <p:txBody>
          <a:bodyPr wrap="square"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5 Rules to Live By</a:t>
            </a:r>
            <a:endParaRPr lang="en-US" sz="4000" dirty="0"/>
          </a:p>
        </p:txBody>
      </p:sp>
      <p:sp>
        <p:nvSpPr>
          <p:cNvPr id="5" name="Text 3"/>
          <p:cNvSpPr/>
          <p:nvPr/>
        </p:nvSpPr>
        <p:spPr>
          <a:xfrm>
            <a:off x="731520" y="2926080"/>
            <a:ext cx="7680960" cy="457200"/>
          </a:xfrm>
          <a:prstGeom prst="rect">
            <a:avLst/>
          </a:prstGeom>
          <a:noFill/>
          <a:ln/>
        </p:spPr>
        <p:txBody>
          <a:bodyPr wrap="square" rtlCol="0" anchor="ctr"/>
          <a:lstStyle/>
          <a:p>
            <a:pPr marL="0" indent="0" algn="ctr">
              <a:buNone/>
            </a:pPr>
            <a:r>
              <a:rPr lang="en-US" sz="2400" i="1" dirty="0">
                <a:solidFill>
                  <a:srgbClr val="94A3B8"/>
                </a:solidFill>
                <a:latin typeface="Calibri" pitchFamily="34" charset="0"/>
                <a:ea typeface="Calibri" pitchFamily="34" charset="-122"/>
                <a:cs typeface="Calibri" pitchFamily="34" charset="-120"/>
              </a:rPr>
              <a:t>A mindset for staying safe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Urgency Is Your Enemy</a:t>
            </a:r>
            <a:endParaRPr lang="en-US" sz="3000" dirty="0"/>
          </a:p>
        </p:txBody>
      </p:sp>
      <p:sp>
        <p:nvSpPr>
          <p:cNvPr id="5" name="Shape 3"/>
          <p:cNvSpPr/>
          <p:nvPr/>
        </p:nvSpPr>
        <p:spPr>
          <a:xfrm>
            <a:off x="635508" y="1094109"/>
            <a:ext cx="7816085" cy="2609211"/>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35508" y="1094109"/>
            <a:ext cx="64008" cy="2609211"/>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32588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someone says you must act RIGHT NOW, that's the biggest red flag there is.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Your grandchild is probably not in jail. Apple isn't deleting your photos today. Nothing will be deleted by a vendor for months and months.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Hang up. Take a breath. Talk to someone you trust who isn't in the room.</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it's real, the bank or company will WANT you to call back.</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Look up the number yourself — look on the back of your credit card or the company website. Never use a number the caller/text/email gives.</a:t>
            </a:r>
            <a:endParaRPr lang="en-US" sz="1600" dirty="0"/>
          </a:p>
        </p:txBody>
      </p:sp>
      <p:sp>
        <p:nvSpPr>
          <p:cNvPr id="9" name="Shape 6"/>
          <p:cNvSpPr/>
          <p:nvPr/>
        </p:nvSpPr>
        <p:spPr>
          <a:xfrm>
            <a:off x="640080" y="379476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9476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Remember: Legitimate organizations never pressure you to act immediately. The urgency is manufactured to bypass your good judgment.</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Question Everything</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Scammers research you on social media to craft convincing stories (this is called "pretexting"). Make sure your social media profile isn’t “public.”</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AI can now clone a voice from just a few seconds of audio. That "grandchild" calling from the hospital is likely not be real.</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Ask a personal question only the real person would know: Where did we go on vacation together? What is my dog's name?</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an email or text seems off, ask a friend or family member before responding.  Slow things down, don’t make rushed decisions.</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Trust your gut. If something feels "off," it probably is. A moment of skepticism is always worth it.</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Don't Talk to Strangers</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you don't recognize the number, don't answer. Let it go to voicemail.</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These scammers are professionals — they can be incredibly convincing on the phone.</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you do answer, don't say "Hello" right away. Wait and listen. If nobody speaks, hang up. Silence means the scammer won’t pick up until you talk to them.</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Over multiple calls, scammers can use AI to build a "voiceprint" of your voice to impersonate you with banks and other institutions.</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Tip: If it's important, they'll leave a message. You can always call back a legitimate caller.</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Technology: Friend &amp; Foe</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An updated phone or computer is vastly harder to hack — say YES to updates.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If your device can no longer receive updates, it's time to replace it.</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Windows 10 and (most) older Intel Macs lost security support last year.</a:t>
            </a:r>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Older iPhones and Android phones that can't update are a security risk too.</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$800 for a new device is quite inexpensive compared to being hacked.</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Think of updates like changing the locks when a key goes missing — it keeps the bad guys out.</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Use Credit Cards, Not Debit</a:t>
            </a:r>
            <a:endParaRPr lang="en-US" sz="3000" dirty="0"/>
          </a:p>
        </p:txBody>
      </p:sp>
      <p:sp>
        <p:nvSpPr>
          <p:cNvPr id="5" name="Shape 3"/>
          <p:cNvSpPr/>
          <p:nvPr/>
        </p:nvSpPr>
        <p:spPr>
          <a:xfrm>
            <a:off x="640080" y="1051560"/>
            <a:ext cx="7863840" cy="24231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051560"/>
            <a:ext cx="64008" cy="2423160"/>
          </a:xfrm>
          <a:prstGeom prst="rect">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680960" y="1188720"/>
            <a:ext cx="594360" cy="594360"/>
          </a:xfrm>
          <a:prstGeom prst="rect">
            <a:avLst/>
          </a:prstGeom>
        </p:spPr>
      </p:pic>
      <p:sp>
        <p:nvSpPr>
          <p:cNvPr id="8" name="Text 5"/>
          <p:cNvSpPr/>
          <p:nvPr/>
        </p:nvSpPr>
        <p:spPr>
          <a:xfrm>
            <a:off x="960120" y="1188720"/>
            <a:ext cx="6492240" cy="2148840"/>
          </a:xfrm>
          <a:prstGeom prst="rect">
            <a:avLst/>
          </a:prstGeom>
          <a:noFill/>
          <a:ln/>
        </p:spPr>
        <p:txBody>
          <a:bodyPr wrap="square" rtlCol="0" anchor="ctr"/>
          <a:lstStyle/>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Credit cards cap your fraud liability at $50 if you report within 60 days.</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With debit cards or ACH, the money leaves your bank account immediately — and you have to fight to get it back.</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Debit card &amp; ACH protection is capped at $50 if reported within 2 business days, capped at $500 if reported within 60 days, and has NO CAP after that.</a:t>
            </a:r>
            <a:endParaRPr lang="en-US" sz="1600" dirty="0"/>
          </a:p>
          <a:p>
            <a:pPr marL="342900" indent="-342900">
              <a:spcAft>
                <a:spcPts val="800"/>
              </a:spcAft>
              <a:buSzPct val="100000"/>
              <a:buChar char="•"/>
            </a:pPr>
            <a:r>
              <a:rPr lang="en-US" sz="1600" dirty="0">
                <a:solidFill>
                  <a:srgbClr val="1E293B"/>
                </a:solidFill>
                <a:latin typeface="Calibri" pitchFamily="34" charset="0"/>
                <a:ea typeface="Calibri" pitchFamily="34" charset="-122"/>
                <a:cs typeface="Calibri" pitchFamily="34" charset="-120"/>
              </a:rPr>
              <a:t>Credit card companies are motivated to fight fraud because their money is on the line.</a:t>
            </a:r>
            <a:endParaRPr lang="en-US" sz="1600" dirty="0"/>
          </a:p>
        </p:txBody>
      </p:sp>
      <p:sp>
        <p:nvSpPr>
          <p:cNvPr id="9" name="Shape 6"/>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0" name="Shape 7"/>
          <p:cNvSpPr/>
          <p:nvPr/>
        </p:nvSpPr>
        <p:spPr>
          <a:xfrm>
            <a:off x="640080" y="3703320"/>
            <a:ext cx="64008" cy="960120"/>
          </a:xfrm>
          <a:prstGeom prst="rect">
            <a:avLst/>
          </a:prstGeom>
          <a:solidFill>
            <a:srgbClr val="F59E0B"/>
          </a:solidFill>
          <a:ln/>
        </p:spPr>
        <p:txBody>
          <a:bodyPr/>
          <a:lstStyle/>
          <a:p>
            <a:endParaRPr lang="en-US"/>
          </a:p>
        </p:txBody>
      </p:sp>
      <p:sp>
        <p:nvSpPr>
          <p:cNvPr id="11" name="Text 8"/>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Bottom line: With credit cards, the bank fights for you. With debit cards, you fight the bank.</a:t>
            </a:r>
            <a:endParaRPr lang="en-US" sz="1300" dirty="0"/>
          </a:p>
        </p:txBody>
      </p:sp>
      <p:sp>
        <p:nvSpPr>
          <p:cNvPr id="12" name="Shape 9"/>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948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F1B2D"/>
          </a:solidFill>
          <a:ln/>
        </p:spPr>
        <p:txBody>
          <a:bodyPr/>
          <a:lstStyle/>
          <a:p>
            <a:endParaRPr lang="en-US"/>
          </a:p>
        </p:txBody>
      </p:sp>
      <p:sp>
        <p:nvSpPr>
          <p:cNvPr id="3" name="Text 1"/>
          <p:cNvSpPr/>
          <p:nvPr/>
        </p:nvSpPr>
        <p:spPr>
          <a:xfrm>
            <a:off x="731520" y="1371600"/>
            <a:ext cx="7680960" cy="457200"/>
          </a:xfrm>
          <a:prstGeom prst="rect">
            <a:avLst/>
          </a:prstGeom>
          <a:noFill/>
          <a:ln/>
        </p:spPr>
        <p:txBody>
          <a:bodyPr wrap="square" rtlCol="0" anchor="ctr"/>
          <a:lstStyle/>
          <a:p>
            <a:pPr marL="0" indent="0" algn="ctr">
              <a:buNone/>
            </a:pPr>
            <a:r>
              <a:rPr lang="en-US" sz="1400" b="1" kern="0" spc="600" dirty="0">
                <a:solidFill>
                  <a:srgbClr val="0F1B2D"/>
                </a:solidFill>
                <a:latin typeface="Calibri" pitchFamily="34" charset="0"/>
                <a:ea typeface="Calibri" pitchFamily="34" charset="-122"/>
                <a:cs typeface="Calibri" pitchFamily="34" charset="-120"/>
              </a:rPr>
              <a:t>PART TWO</a:t>
            </a:r>
            <a:endParaRPr lang="en-US" sz="1400" dirty="0"/>
          </a:p>
        </p:txBody>
      </p:sp>
      <p:sp>
        <p:nvSpPr>
          <p:cNvPr id="4" name="Text 2"/>
          <p:cNvSpPr/>
          <p:nvPr/>
        </p:nvSpPr>
        <p:spPr>
          <a:xfrm>
            <a:off x="731520" y="1920240"/>
            <a:ext cx="7680960" cy="914400"/>
          </a:xfrm>
          <a:prstGeom prst="rect">
            <a:avLst/>
          </a:prstGeom>
          <a:noFill/>
          <a:ln/>
        </p:spPr>
        <p:txBody>
          <a:bodyPr wrap="square"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5 Things to Do This Week</a:t>
            </a:r>
            <a:endParaRPr lang="en-US" sz="4000" dirty="0"/>
          </a:p>
        </p:txBody>
      </p:sp>
      <p:sp>
        <p:nvSpPr>
          <p:cNvPr id="5" name="Text 3"/>
          <p:cNvSpPr/>
          <p:nvPr/>
        </p:nvSpPr>
        <p:spPr>
          <a:xfrm>
            <a:off x="731520" y="2926080"/>
            <a:ext cx="7680960" cy="457200"/>
          </a:xfrm>
          <a:prstGeom prst="rect">
            <a:avLst/>
          </a:prstGeom>
          <a:noFill/>
          <a:ln/>
        </p:spPr>
        <p:txBody>
          <a:bodyPr wrap="square" rtlCol="0" anchor="ctr"/>
          <a:lstStyle/>
          <a:p>
            <a:pPr marL="0" indent="0" algn="ctr">
              <a:buNone/>
            </a:pPr>
            <a:r>
              <a:rPr lang="en-US" sz="2400" i="1" dirty="0">
                <a:solidFill>
                  <a:srgbClr val="0F1B2D"/>
                </a:solidFill>
                <a:latin typeface="Calibri" pitchFamily="34" charset="0"/>
                <a:ea typeface="Calibri" pitchFamily="34" charset="-122"/>
                <a:cs typeface="Calibri" pitchFamily="34" charset="-120"/>
              </a:rPr>
              <a:t>Specific steps you can take right away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Freeze Your Credit</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Your personal info is already out there from data breaches. </a:t>
            </a:r>
          </a:p>
          <a:p>
            <a:pPr marL="0" indent="0">
              <a:lnSpc>
                <a:spcPct val="120000"/>
              </a:lnSpc>
              <a:buNone/>
            </a:pPr>
            <a:r>
              <a:rPr lang="en-US" sz="1300" dirty="0">
                <a:solidFill>
                  <a:srgbClr val="1E293B"/>
                </a:solidFill>
                <a:latin typeface="Calibri" pitchFamily="34" charset="0"/>
                <a:cs typeface="Calibri" pitchFamily="34" charset="-120"/>
              </a:rPr>
              <a:t>Check </a:t>
            </a:r>
            <a:r>
              <a:rPr lang="en-US" sz="1300" dirty="0">
                <a:solidFill>
                  <a:srgbClr val="1E293B"/>
                </a:solidFill>
                <a:latin typeface="Calibri" pitchFamily="34" charset="0"/>
                <a:cs typeface="Calibri" pitchFamily="34" charset="-120"/>
                <a:hlinkClick r:id="rId3"/>
              </a:rPr>
              <a:t>https://haveibeenpwned.com</a:t>
            </a:r>
            <a:r>
              <a:rPr lang="en-US" sz="1300" dirty="0">
                <a:solidFill>
                  <a:srgbClr val="1E293B"/>
                </a:solidFill>
                <a:latin typeface="Calibri" pitchFamily="34" charset="0"/>
                <a:cs typeface="Calibri" pitchFamily="34" charset="-120"/>
              </a:rPr>
              <a:t> (scary)</a:t>
            </a:r>
            <a:endParaRPr lang="en-US" sz="1300" dirty="0">
              <a:solidFill>
                <a:srgbClr val="1E293B"/>
              </a:solidFill>
              <a:latin typeface="Calibri" pitchFamily="34" charset="0"/>
              <a:ea typeface="Calibri" pitchFamily="34" charset="-122"/>
              <a:cs typeface="Calibri" pitchFamily="34" charset="-120"/>
            </a:endParaRPr>
          </a:p>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A credit freeze stops criminals from opening new accounts in your name. It's free, it's the law, and it's the single most powerful thing you can do.</a:t>
            </a:r>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4"/>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Freeze at all three bureaus: Equifax, Experian, and TransUnion</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Use their websites or call — it takes about 10 minutes each</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Save your PINs somewhere safe — you'll need them to temporarily lift the freeze when you apply for credit</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You can lift the freeze anytime, at no cost</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Pro tip: A credit freeze does NOT affect your credit score or your existing accounts. It only blocks new applications.</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Get a Password Manager</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If you use the same password on multiple sites, one breach puts many accounts at risk. A password manager creates and remembers strong, unique passwords for every site — locked behind one master password.  Long is much more important than complex. New rule of thumb – 15 characters or longer!</a:t>
            </a:r>
            <a:endParaRPr lang="en-US" sz="1300" dirty="0"/>
          </a:p>
        </p:txBody>
      </p:sp>
      <p:sp>
        <p:nvSpPr>
          <p:cNvPr id="9" name="Shape 7"/>
          <p:cNvSpPr/>
          <p:nvPr/>
        </p:nvSpPr>
        <p:spPr>
          <a:xfrm>
            <a:off x="4709160" y="1143000"/>
            <a:ext cx="3794760" cy="25603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5603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823460" y="17576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Try Bitwarden (free) or one of the many paid password managers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Install on your phone and computer, they sync automatically</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Let the password manager generate long (15 characters or more) random passwords — they shouldn’t be memorable</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Replace your most important passwords first: email, bank, and social media</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Still using a password notebook? If your house is broken into, they get everything. A password manager is encrypted and protected by two-factor authentication.</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Turn On Two-Factor Authentication</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Two-factor authentication (2FA) means even if someone steals your password, they still can't get in. It combines something you know (password) with something you have (your phone) or something you are (your face, your fingerprint).</a:t>
            </a:r>
            <a:endParaRPr lang="en-US" sz="1300" dirty="0"/>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Start with your email — it's the master key to all your accounts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Then enable it on banking, social media, and shopping sites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Use Face ID or fingerprint when offered — it's easier AND more secure</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Never approve a 2FA request you didn't initiate — that means someone already has your password</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Look for "Security Settings" or "Login Preferences" in your accounts. Most banks and email providers now offer this.</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Update Everything</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Software updates aren't just about new features — they patch security holes that hackers actively exploit. An unpatched device is like leaving your front door unlocked.</a:t>
            </a:r>
            <a:endParaRPr lang="en-US" sz="1300" dirty="0"/>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Turn on automatic updates on your phone, computer, and tablet</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On iPhone: Settings &gt; General &gt; Software Update &gt; Automatic Updates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On Windows: Settings &gt; Windows Update &gt; turn on automatic updates</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Update your web browser and apps too — not just the operating system</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Windows 10 loses security support October 2025. Intel-based Macs are losing macOS support. If your device can't update, start planning to replace it.</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548640" y="320040"/>
            <a:ext cx="594360" cy="594360"/>
          </a:xfrm>
          <a:prstGeom prst="ellipse">
            <a:avLst/>
          </a:prstGeom>
          <a:solidFill>
            <a:srgbClr val="0D9488"/>
          </a:solidFill>
          <a:ln/>
        </p:spPr>
        <p:txBody>
          <a:bodyPr/>
          <a:lstStyle/>
          <a:p>
            <a:endParaRPr lang="en-US"/>
          </a:p>
        </p:txBody>
      </p:sp>
      <p:sp>
        <p:nvSpPr>
          <p:cNvPr id="3" name="Text 1"/>
          <p:cNvSpPr/>
          <p:nvPr/>
        </p:nvSpPr>
        <p:spPr>
          <a:xfrm>
            <a:off x="548640" y="320040"/>
            <a:ext cx="594360" cy="5943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4" name="Text 2"/>
          <p:cNvSpPr/>
          <p:nvPr/>
        </p:nvSpPr>
        <p:spPr>
          <a:xfrm>
            <a:off x="1325880" y="320040"/>
            <a:ext cx="6858000" cy="594360"/>
          </a:xfrm>
          <a:prstGeom prst="rect">
            <a:avLst/>
          </a:prstGeom>
          <a:noFill/>
          <a:ln/>
        </p:spPr>
        <p:txBody>
          <a:bodyPr wrap="square" lIns="0" tIns="0" rIns="0" bIns="0" rtlCol="0" anchor="ctr"/>
          <a:lstStyle/>
          <a:p>
            <a:pPr marL="0" indent="0">
              <a:buNone/>
            </a:pPr>
            <a:r>
              <a:rPr lang="en-US" sz="3000" b="1" dirty="0">
                <a:solidFill>
                  <a:srgbClr val="0F1B2D"/>
                </a:solidFill>
                <a:latin typeface="Georgia" pitchFamily="34" charset="0"/>
                <a:ea typeface="Georgia" pitchFamily="34" charset="-122"/>
                <a:cs typeface="Georgia" pitchFamily="34" charset="-120"/>
              </a:rPr>
              <a:t>Back Up Your Data</a:t>
            </a:r>
            <a:endParaRPr lang="en-US" sz="3000" dirty="0"/>
          </a:p>
        </p:txBody>
      </p:sp>
      <p:sp>
        <p:nvSpPr>
          <p:cNvPr id="5" name="Shape 3"/>
          <p:cNvSpPr/>
          <p:nvPr/>
        </p:nvSpPr>
        <p:spPr>
          <a:xfrm>
            <a:off x="64008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Shape 4"/>
          <p:cNvSpPr/>
          <p:nvPr/>
        </p:nvSpPr>
        <p:spPr>
          <a:xfrm>
            <a:off x="640080" y="1143000"/>
            <a:ext cx="64008" cy="2331720"/>
          </a:xfrm>
          <a:prstGeom prst="rect">
            <a:avLst/>
          </a:prstGeom>
          <a:solidFill>
            <a:srgbClr val="0D9488"/>
          </a:solidFill>
          <a:ln/>
        </p:spPr>
        <p:txBody>
          <a:bodyPr/>
          <a:lstStyle/>
          <a:p>
            <a:endParaRPr lang="en-US"/>
          </a:p>
        </p:txBody>
      </p:sp>
      <p:sp>
        <p:nvSpPr>
          <p:cNvPr id="7" name="Text 5"/>
          <p:cNvSpPr/>
          <p:nvPr/>
        </p:nvSpPr>
        <p:spPr>
          <a:xfrm>
            <a:off x="960120" y="1234440"/>
            <a:ext cx="329184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960120" y="1508760"/>
            <a:ext cx="3291840" cy="1783080"/>
          </a:xfrm>
          <a:prstGeom prst="rect">
            <a:avLst/>
          </a:prstGeom>
          <a:noFill/>
          <a:ln/>
        </p:spPr>
        <p:txBody>
          <a:bodyPr wrap="square" rtlCol="0" anchor="t"/>
          <a:lstStyle/>
          <a:p>
            <a:pPr marL="0" indent="0">
              <a:lnSpc>
                <a:spcPct val="120000"/>
              </a:lnSpc>
              <a:buNone/>
            </a:pPr>
            <a:r>
              <a:rPr lang="en-US" sz="1300" dirty="0">
                <a:solidFill>
                  <a:srgbClr val="1E293B"/>
                </a:solidFill>
                <a:latin typeface="Calibri" pitchFamily="34" charset="0"/>
                <a:ea typeface="Calibri" pitchFamily="34" charset="-122"/>
                <a:cs typeface="Calibri" pitchFamily="34" charset="-120"/>
              </a:rPr>
              <a:t>If ransomware encrypts your files or your computer is stolen, a backup means you haven't lost everything. It's your insurance policy for the digital world.</a:t>
            </a:r>
            <a:endParaRPr lang="en-US" sz="1300" dirty="0"/>
          </a:p>
        </p:txBody>
      </p:sp>
      <p:sp>
        <p:nvSpPr>
          <p:cNvPr id="9" name="Shape 7"/>
          <p:cNvSpPr/>
          <p:nvPr/>
        </p:nvSpPr>
        <p:spPr>
          <a:xfrm>
            <a:off x="4709160" y="1143000"/>
            <a:ext cx="3794760" cy="2331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4709160" y="1143000"/>
            <a:ext cx="64008" cy="2331720"/>
          </a:xfrm>
          <a:prstGeom prst="rect">
            <a:avLst/>
          </a:prstGeom>
          <a:solidFill>
            <a:srgbClr val="0D9488"/>
          </a:solidFill>
          <a:ln/>
        </p:spPr>
        <p:txBody>
          <a:bodyPr/>
          <a:lstStyle/>
          <a:p>
            <a:endParaRPr lang="en-US"/>
          </a:p>
        </p:txBody>
      </p:sp>
      <p:sp>
        <p:nvSpPr>
          <p:cNvPr id="11" name="Text 9"/>
          <p:cNvSpPr/>
          <p:nvPr/>
        </p:nvSpPr>
        <p:spPr>
          <a:xfrm>
            <a:off x="4937760" y="1234440"/>
            <a:ext cx="3383280" cy="27432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HOW</a:t>
            </a:r>
            <a:endParaRPr lang="en-US" sz="1200" dirty="0"/>
          </a:p>
        </p:txBody>
      </p:sp>
      <p:pic>
        <p:nvPicPr>
          <p:cNvPr id="12" name="Image 0" descr="preencoded.png"/>
          <p:cNvPicPr>
            <a:picLocks noChangeAspect="1"/>
          </p:cNvPicPr>
          <p:nvPr/>
        </p:nvPicPr>
        <p:blipFill>
          <a:blip r:embed="rId3"/>
          <a:stretch>
            <a:fillRect/>
          </a:stretch>
        </p:blipFill>
        <p:spPr>
          <a:xfrm>
            <a:off x="8046720" y="1188720"/>
            <a:ext cx="320040" cy="320040"/>
          </a:xfrm>
          <a:prstGeom prst="rect">
            <a:avLst/>
          </a:prstGeom>
        </p:spPr>
      </p:pic>
      <p:sp>
        <p:nvSpPr>
          <p:cNvPr id="13" name="Text 10"/>
          <p:cNvSpPr/>
          <p:nvPr/>
        </p:nvSpPr>
        <p:spPr>
          <a:xfrm>
            <a:off x="4937760" y="1554480"/>
            <a:ext cx="3383280" cy="1783080"/>
          </a:xfrm>
          <a:prstGeom prst="rect">
            <a:avLst/>
          </a:prstGeom>
          <a:noFill/>
          <a:ln/>
        </p:spPr>
        <p:txBody>
          <a:bodyPr wrap="square" rtlCol="0" anchor="ctr"/>
          <a:lstStyle/>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Mac: Turn on Time Machine — plug in an external drive and it backs up automatically</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Windows: Use File History or a service like Backblaze ($7/month for unlimited)</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Photos: Use iCloud, Google Photos, or another cloud service as a second copy</a:t>
            </a:r>
            <a:endParaRPr lang="en-US" sz="1300" dirty="0"/>
          </a:p>
          <a:p>
            <a:pPr marL="342900" indent="-342900">
              <a:spcAft>
                <a:spcPts val="500"/>
              </a:spcAft>
              <a:buSzPct val="100000"/>
              <a:buChar char="•"/>
            </a:pPr>
            <a:r>
              <a:rPr lang="en-US" sz="1300" dirty="0">
                <a:solidFill>
                  <a:srgbClr val="1E293B"/>
                </a:solidFill>
                <a:latin typeface="Calibri" pitchFamily="34" charset="0"/>
                <a:ea typeface="Calibri" pitchFamily="34" charset="-122"/>
                <a:cs typeface="Calibri" pitchFamily="34" charset="-120"/>
              </a:rPr>
              <a:t>Test your backup occasionally — make sure you can actually restore from it</a:t>
            </a:r>
            <a:endParaRPr lang="en-US" sz="1300" dirty="0"/>
          </a:p>
        </p:txBody>
      </p:sp>
      <p:sp>
        <p:nvSpPr>
          <p:cNvPr id="14" name="Shape 11"/>
          <p:cNvSpPr/>
          <p:nvPr/>
        </p:nvSpPr>
        <p:spPr>
          <a:xfrm>
            <a:off x="640080" y="3703320"/>
            <a:ext cx="7863840" cy="960120"/>
          </a:xfrm>
          <a:prstGeom prst="rect">
            <a:avLst/>
          </a:prstGeom>
          <a:solidFill>
            <a:srgbClr val="F0FDFA"/>
          </a:solidFill>
          <a:ln/>
          <a:effectLst>
            <a:outerShdw blurRad="50800" dist="12700" dir="8100000" algn="bl" rotWithShape="0">
              <a:srgbClr val="000000">
                <a:alpha val="8000"/>
              </a:srgbClr>
            </a:outerShdw>
          </a:effectLst>
        </p:spPr>
        <p:txBody>
          <a:bodyPr/>
          <a:lstStyle/>
          <a:p>
            <a:endParaRPr lang="en-US"/>
          </a:p>
        </p:txBody>
      </p:sp>
      <p:sp>
        <p:nvSpPr>
          <p:cNvPr id="15" name="Shape 12"/>
          <p:cNvSpPr/>
          <p:nvPr/>
        </p:nvSpPr>
        <p:spPr>
          <a:xfrm>
            <a:off x="640080" y="3703320"/>
            <a:ext cx="64008" cy="960120"/>
          </a:xfrm>
          <a:prstGeom prst="rect">
            <a:avLst/>
          </a:prstGeom>
          <a:solidFill>
            <a:srgbClr val="F59E0B"/>
          </a:solidFill>
          <a:ln/>
        </p:spPr>
        <p:txBody>
          <a:bodyPr/>
          <a:lstStyle/>
          <a:p>
            <a:endParaRPr lang="en-US"/>
          </a:p>
        </p:txBody>
      </p:sp>
      <p:sp>
        <p:nvSpPr>
          <p:cNvPr id="16" name="Text 13"/>
          <p:cNvSpPr/>
          <p:nvPr/>
        </p:nvSpPr>
        <p:spPr>
          <a:xfrm>
            <a:off x="960120" y="3749040"/>
            <a:ext cx="7315200" cy="868680"/>
          </a:xfrm>
          <a:prstGeom prst="rect">
            <a:avLst/>
          </a:prstGeom>
          <a:noFill/>
          <a:ln/>
        </p:spPr>
        <p:txBody>
          <a:bodyPr wrap="square" rtlCol="0" anchor="ctr"/>
          <a:lstStyle/>
          <a:p>
            <a:pPr marL="0" indent="0">
              <a:lnSpc>
                <a:spcPct val="120000"/>
              </a:lnSpc>
              <a:buNone/>
            </a:pPr>
            <a:r>
              <a:rPr lang="en-US" sz="1300" i="1" dirty="0">
                <a:solidFill>
                  <a:srgbClr val="1E293B"/>
                </a:solidFill>
                <a:latin typeface="Calibri" pitchFamily="34" charset="0"/>
                <a:ea typeface="Calibri" pitchFamily="34" charset="-122"/>
                <a:cs typeface="Calibri" pitchFamily="34" charset="-120"/>
              </a:rPr>
              <a:t>The 3-2-1 rule: 3 copies of your data, on 2 different types of storage, with 1 copy off-site (like the cloud).</a:t>
            </a:r>
            <a:endParaRPr lang="en-US" sz="1300" dirty="0"/>
          </a:p>
        </p:txBody>
      </p:sp>
      <p:sp>
        <p:nvSpPr>
          <p:cNvPr id="17" name="Shape 14"/>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7863840" cy="640080"/>
          </a:xfrm>
          <a:prstGeom prst="rect">
            <a:avLst/>
          </a:prstGeom>
          <a:noFill/>
          <a:ln/>
        </p:spPr>
        <p:txBody>
          <a:bodyPr wrap="square" lIns="0" tIns="0" rIns="0" bIns="0" rtlCol="0" anchor="ctr"/>
          <a:lstStyle/>
          <a:p>
            <a:pPr marL="0" indent="0">
              <a:buNone/>
            </a:pPr>
            <a:r>
              <a:rPr lang="en-US" sz="3400" b="1" dirty="0">
                <a:solidFill>
                  <a:srgbClr val="0F1B2D"/>
                </a:solidFill>
                <a:latin typeface="Georgia" pitchFamily="34" charset="0"/>
                <a:ea typeface="Georgia" pitchFamily="34" charset="-122"/>
                <a:cs typeface="Georgia" pitchFamily="34" charset="-120"/>
              </a:rPr>
              <a:t>Your Action Checklist</a:t>
            </a:r>
            <a:endParaRPr lang="en-US" sz="3400" dirty="0"/>
          </a:p>
        </p:txBody>
      </p:sp>
      <p:sp>
        <p:nvSpPr>
          <p:cNvPr id="3" name="Text 1"/>
          <p:cNvSpPr/>
          <p:nvPr/>
        </p:nvSpPr>
        <p:spPr>
          <a:xfrm>
            <a:off x="640080" y="868680"/>
            <a:ext cx="7863840" cy="365760"/>
          </a:xfrm>
          <a:prstGeom prst="rect">
            <a:avLst/>
          </a:prstGeom>
          <a:noFill/>
          <a:ln/>
        </p:spPr>
        <p:txBody>
          <a:bodyPr wrap="square" lIns="0" tIns="0" rIns="0" bIns="0" rtlCol="0" anchor="ctr"/>
          <a:lstStyle/>
          <a:p>
            <a:pPr marL="0" indent="0">
              <a:buNone/>
            </a:pPr>
            <a:r>
              <a:rPr lang="en-US" i="1" dirty="0">
                <a:solidFill>
                  <a:srgbClr val="94A3B8"/>
                </a:solidFill>
                <a:latin typeface="Calibri" pitchFamily="34" charset="0"/>
                <a:ea typeface="Calibri" pitchFamily="34" charset="-122"/>
                <a:cs typeface="Calibri" pitchFamily="34" charset="-120"/>
              </a:rPr>
              <a:t>Start with just one. Then come back for the next.</a:t>
            </a:r>
            <a:endParaRPr lang="en-US" dirty="0"/>
          </a:p>
        </p:txBody>
      </p:sp>
      <p:sp>
        <p:nvSpPr>
          <p:cNvPr id="4" name="Shape 2"/>
          <p:cNvSpPr/>
          <p:nvPr/>
        </p:nvSpPr>
        <p:spPr>
          <a:xfrm>
            <a:off x="640080" y="1417320"/>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5" name="Shape 3"/>
          <p:cNvSpPr/>
          <p:nvPr/>
        </p:nvSpPr>
        <p:spPr>
          <a:xfrm>
            <a:off x="640080" y="1417320"/>
            <a:ext cx="64008" cy="566928"/>
          </a:xfrm>
          <a:prstGeom prst="rect">
            <a:avLst/>
          </a:prstGeom>
          <a:solidFill>
            <a:srgbClr val="0D9488"/>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914400" y="1517904"/>
            <a:ext cx="365760" cy="365760"/>
          </a:xfrm>
          <a:prstGeom prst="rect">
            <a:avLst/>
          </a:prstGeom>
        </p:spPr>
      </p:pic>
      <p:sp>
        <p:nvSpPr>
          <p:cNvPr id="7" name="Shape 4"/>
          <p:cNvSpPr/>
          <p:nvPr/>
        </p:nvSpPr>
        <p:spPr>
          <a:xfrm>
            <a:off x="1463040" y="1563624"/>
            <a:ext cx="274320" cy="274320"/>
          </a:xfrm>
          <a:prstGeom prst="rect">
            <a:avLst/>
          </a:prstGeom>
          <a:solidFill>
            <a:srgbClr val="FFFFFF"/>
          </a:solidFill>
          <a:ln w="31750">
            <a:solidFill>
              <a:srgbClr val="0D9488"/>
            </a:solidFill>
            <a:prstDash val="solid"/>
          </a:ln>
        </p:spPr>
        <p:txBody>
          <a:bodyPr/>
          <a:lstStyle/>
          <a:p>
            <a:endParaRPr lang="en-US"/>
          </a:p>
        </p:txBody>
      </p:sp>
      <p:sp>
        <p:nvSpPr>
          <p:cNvPr id="8" name="Text 5"/>
          <p:cNvSpPr/>
          <p:nvPr/>
        </p:nvSpPr>
        <p:spPr>
          <a:xfrm>
            <a:off x="1920240" y="1417320"/>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Freeze your credit at all 3 bureaus</a:t>
            </a:r>
            <a:endParaRPr lang="en-US" sz="1500" dirty="0"/>
          </a:p>
        </p:txBody>
      </p:sp>
      <p:sp>
        <p:nvSpPr>
          <p:cNvPr id="9" name="Shape 6"/>
          <p:cNvSpPr/>
          <p:nvPr/>
        </p:nvSpPr>
        <p:spPr>
          <a:xfrm>
            <a:off x="7132320" y="1545336"/>
            <a:ext cx="1097280" cy="310896"/>
          </a:xfrm>
          <a:prstGeom prst="rect">
            <a:avLst/>
          </a:prstGeom>
          <a:solidFill>
            <a:srgbClr val="F0FDFA"/>
          </a:solidFill>
          <a:ln/>
        </p:spPr>
        <p:txBody>
          <a:bodyPr/>
          <a:lstStyle/>
          <a:p>
            <a:endParaRPr lang="en-US"/>
          </a:p>
        </p:txBody>
      </p:sp>
      <p:sp>
        <p:nvSpPr>
          <p:cNvPr id="10" name="Text 7"/>
          <p:cNvSpPr/>
          <p:nvPr/>
        </p:nvSpPr>
        <p:spPr>
          <a:xfrm>
            <a:off x="7132320" y="1545336"/>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30 min</a:t>
            </a:r>
            <a:endParaRPr lang="en-US" sz="1100" dirty="0"/>
          </a:p>
        </p:txBody>
      </p:sp>
      <p:sp>
        <p:nvSpPr>
          <p:cNvPr id="11" name="Shape 8"/>
          <p:cNvSpPr/>
          <p:nvPr/>
        </p:nvSpPr>
        <p:spPr>
          <a:xfrm>
            <a:off x="640080" y="2075688"/>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2" name="Shape 9"/>
          <p:cNvSpPr/>
          <p:nvPr/>
        </p:nvSpPr>
        <p:spPr>
          <a:xfrm>
            <a:off x="640080" y="2075688"/>
            <a:ext cx="64008" cy="566928"/>
          </a:xfrm>
          <a:prstGeom prst="rect">
            <a:avLst/>
          </a:prstGeom>
          <a:solidFill>
            <a:srgbClr val="0D9488"/>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914400" y="2176272"/>
            <a:ext cx="365760" cy="365760"/>
          </a:xfrm>
          <a:prstGeom prst="rect">
            <a:avLst/>
          </a:prstGeom>
        </p:spPr>
      </p:pic>
      <p:sp>
        <p:nvSpPr>
          <p:cNvPr id="14" name="Shape 10"/>
          <p:cNvSpPr/>
          <p:nvPr/>
        </p:nvSpPr>
        <p:spPr>
          <a:xfrm>
            <a:off x="1463040" y="2221992"/>
            <a:ext cx="274320" cy="274320"/>
          </a:xfrm>
          <a:prstGeom prst="rect">
            <a:avLst/>
          </a:prstGeom>
          <a:solidFill>
            <a:srgbClr val="FFFFFF"/>
          </a:solidFill>
          <a:ln w="31750">
            <a:solidFill>
              <a:srgbClr val="0D9488"/>
            </a:solidFill>
            <a:prstDash val="solid"/>
          </a:ln>
        </p:spPr>
        <p:txBody>
          <a:bodyPr/>
          <a:lstStyle/>
          <a:p>
            <a:endParaRPr lang="en-US"/>
          </a:p>
        </p:txBody>
      </p:sp>
      <p:sp>
        <p:nvSpPr>
          <p:cNvPr id="15" name="Text 11"/>
          <p:cNvSpPr/>
          <p:nvPr/>
        </p:nvSpPr>
        <p:spPr>
          <a:xfrm>
            <a:off x="1920240" y="2075688"/>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Turn on automatic updates on all your devices</a:t>
            </a:r>
            <a:endParaRPr lang="en-US" sz="1500" dirty="0"/>
          </a:p>
        </p:txBody>
      </p:sp>
      <p:sp>
        <p:nvSpPr>
          <p:cNvPr id="16" name="Shape 12"/>
          <p:cNvSpPr/>
          <p:nvPr/>
        </p:nvSpPr>
        <p:spPr>
          <a:xfrm>
            <a:off x="7132320" y="2203704"/>
            <a:ext cx="1097280" cy="310896"/>
          </a:xfrm>
          <a:prstGeom prst="rect">
            <a:avLst/>
          </a:prstGeom>
          <a:solidFill>
            <a:srgbClr val="F0FDFA"/>
          </a:solidFill>
          <a:ln/>
        </p:spPr>
        <p:txBody>
          <a:bodyPr/>
          <a:lstStyle/>
          <a:p>
            <a:endParaRPr lang="en-US"/>
          </a:p>
        </p:txBody>
      </p:sp>
      <p:sp>
        <p:nvSpPr>
          <p:cNvPr id="17" name="Text 13"/>
          <p:cNvSpPr/>
          <p:nvPr/>
        </p:nvSpPr>
        <p:spPr>
          <a:xfrm>
            <a:off x="7132320" y="2203704"/>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10 min</a:t>
            </a:r>
            <a:endParaRPr lang="en-US" sz="1100" dirty="0"/>
          </a:p>
        </p:txBody>
      </p:sp>
      <p:sp>
        <p:nvSpPr>
          <p:cNvPr id="18" name="Shape 14"/>
          <p:cNvSpPr/>
          <p:nvPr/>
        </p:nvSpPr>
        <p:spPr>
          <a:xfrm>
            <a:off x="640080" y="2734056"/>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5"/>
          <p:cNvSpPr/>
          <p:nvPr/>
        </p:nvSpPr>
        <p:spPr>
          <a:xfrm>
            <a:off x="640080" y="2734056"/>
            <a:ext cx="64008" cy="566928"/>
          </a:xfrm>
          <a:prstGeom prst="rect">
            <a:avLst/>
          </a:prstGeom>
          <a:solidFill>
            <a:srgbClr val="0D9488"/>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914400" y="2834640"/>
            <a:ext cx="365760" cy="365760"/>
          </a:xfrm>
          <a:prstGeom prst="rect">
            <a:avLst/>
          </a:prstGeom>
        </p:spPr>
      </p:pic>
      <p:sp>
        <p:nvSpPr>
          <p:cNvPr id="21" name="Shape 16"/>
          <p:cNvSpPr/>
          <p:nvPr/>
        </p:nvSpPr>
        <p:spPr>
          <a:xfrm>
            <a:off x="1463040" y="2880360"/>
            <a:ext cx="274320" cy="274320"/>
          </a:xfrm>
          <a:prstGeom prst="rect">
            <a:avLst/>
          </a:prstGeom>
          <a:solidFill>
            <a:srgbClr val="FFFFFF"/>
          </a:solidFill>
          <a:ln w="31750">
            <a:solidFill>
              <a:srgbClr val="0D9488"/>
            </a:solidFill>
            <a:prstDash val="solid"/>
          </a:ln>
        </p:spPr>
        <p:txBody>
          <a:bodyPr/>
          <a:lstStyle/>
          <a:p>
            <a:endParaRPr lang="en-US"/>
          </a:p>
        </p:txBody>
      </p:sp>
      <p:sp>
        <p:nvSpPr>
          <p:cNvPr id="22" name="Text 17"/>
          <p:cNvSpPr/>
          <p:nvPr/>
        </p:nvSpPr>
        <p:spPr>
          <a:xfrm>
            <a:off x="1920240" y="2734056"/>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Turn on two-factor authentication on email and banking</a:t>
            </a:r>
            <a:endParaRPr lang="en-US" sz="1500" dirty="0"/>
          </a:p>
        </p:txBody>
      </p:sp>
      <p:sp>
        <p:nvSpPr>
          <p:cNvPr id="23" name="Shape 18"/>
          <p:cNvSpPr/>
          <p:nvPr/>
        </p:nvSpPr>
        <p:spPr>
          <a:xfrm>
            <a:off x="7132320" y="2862072"/>
            <a:ext cx="1097280" cy="310896"/>
          </a:xfrm>
          <a:prstGeom prst="rect">
            <a:avLst/>
          </a:prstGeom>
          <a:solidFill>
            <a:srgbClr val="F0FDFA"/>
          </a:solidFill>
          <a:ln/>
        </p:spPr>
        <p:txBody>
          <a:bodyPr/>
          <a:lstStyle/>
          <a:p>
            <a:endParaRPr lang="en-US"/>
          </a:p>
        </p:txBody>
      </p:sp>
      <p:sp>
        <p:nvSpPr>
          <p:cNvPr id="24" name="Text 19"/>
          <p:cNvSpPr/>
          <p:nvPr/>
        </p:nvSpPr>
        <p:spPr>
          <a:xfrm>
            <a:off x="7132320" y="2862072"/>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15 min</a:t>
            </a:r>
            <a:endParaRPr lang="en-US" sz="1100" dirty="0"/>
          </a:p>
        </p:txBody>
      </p:sp>
      <p:sp>
        <p:nvSpPr>
          <p:cNvPr id="25" name="Shape 20"/>
          <p:cNvSpPr/>
          <p:nvPr/>
        </p:nvSpPr>
        <p:spPr>
          <a:xfrm>
            <a:off x="640080" y="3392424"/>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6" name="Shape 21"/>
          <p:cNvSpPr/>
          <p:nvPr/>
        </p:nvSpPr>
        <p:spPr>
          <a:xfrm>
            <a:off x="640080" y="3392424"/>
            <a:ext cx="64008" cy="566928"/>
          </a:xfrm>
          <a:prstGeom prst="rect">
            <a:avLst/>
          </a:prstGeom>
          <a:solidFill>
            <a:srgbClr val="0D9488"/>
          </a:solidFill>
          <a:ln/>
        </p:spPr>
        <p:txBody>
          <a:bodyPr/>
          <a:lstStyle/>
          <a:p>
            <a:endParaRPr lang="en-US"/>
          </a:p>
        </p:txBody>
      </p:sp>
      <p:pic>
        <p:nvPicPr>
          <p:cNvPr id="27" name="Image 3" descr="preencoded.png"/>
          <p:cNvPicPr>
            <a:picLocks noChangeAspect="1"/>
          </p:cNvPicPr>
          <p:nvPr/>
        </p:nvPicPr>
        <p:blipFill>
          <a:blip r:embed="rId6"/>
          <a:stretch>
            <a:fillRect/>
          </a:stretch>
        </p:blipFill>
        <p:spPr>
          <a:xfrm>
            <a:off x="914400" y="3493008"/>
            <a:ext cx="365760" cy="365760"/>
          </a:xfrm>
          <a:prstGeom prst="rect">
            <a:avLst/>
          </a:prstGeom>
        </p:spPr>
      </p:pic>
      <p:sp>
        <p:nvSpPr>
          <p:cNvPr id="28" name="Shape 22"/>
          <p:cNvSpPr/>
          <p:nvPr/>
        </p:nvSpPr>
        <p:spPr>
          <a:xfrm>
            <a:off x="1463040" y="3538728"/>
            <a:ext cx="274320" cy="274320"/>
          </a:xfrm>
          <a:prstGeom prst="rect">
            <a:avLst/>
          </a:prstGeom>
          <a:solidFill>
            <a:srgbClr val="FFFFFF"/>
          </a:solidFill>
          <a:ln w="31750">
            <a:solidFill>
              <a:srgbClr val="0D9488"/>
            </a:solidFill>
            <a:prstDash val="solid"/>
          </a:ln>
        </p:spPr>
        <p:txBody>
          <a:bodyPr/>
          <a:lstStyle/>
          <a:p>
            <a:endParaRPr lang="en-US"/>
          </a:p>
        </p:txBody>
      </p:sp>
      <p:sp>
        <p:nvSpPr>
          <p:cNvPr id="29" name="Text 23"/>
          <p:cNvSpPr/>
          <p:nvPr/>
        </p:nvSpPr>
        <p:spPr>
          <a:xfrm>
            <a:off x="1920240" y="3392424"/>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Install a password manager and update your top 5 passwords</a:t>
            </a:r>
            <a:endParaRPr lang="en-US" sz="1500" dirty="0"/>
          </a:p>
        </p:txBody>
      </p:sp>
      <p:sp>
        <p:nvSpPr>
          <p:cNvPr id="30" name="Shape 24"/>
          <p:cNvSpPr/>
          <p:nvPr/>
        </p:nvSpPr>
        <p:spPr>
          <a:xfrm>
            <a:off x="7132320" y="3520440"/>
            <a:ext cx="1097280" cy="310896"/>
          </a:xfrm>
          <a:prstGeom prst="rect">
            <a:avLst/>
          </a:prstGeom>
          <a:solidFill>
            <a:srgbClr val="F0FDFA"/>
          </a:solidFill>
          <a:ln/>
        </p:spPr>
        <p:txBody>
          <a:bodyPr/>
          <a:lstStyle/>
          <a:p>
            <a:endParaRPr lang="en-US"/>
          </a:p>
        </p:txBody>
      </p:sp>
      <p:sp>
        <p:nvSpPr>
          <p:cNvPr id="31" name="Text 25"/>
          <p:cNvSpPr/>
          <p:nvPr/>
        </p:nvSpPr>
        <p:spPr>
          <a:xfrm>
            <a:off x="7132320" y="3520440"/>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45 min</a:t>
            </a:r>
            <a:endParaRPr lang="en-US" sz="1100" dirty="0"/>
          </a:p>
        </p:txBody>
      </p:sp>
      <p:sp>
        <p:nvSpPr>
          <p:cNvPr id="32" name="Shape 26"/>
          <p:cNvSpPr/>
          <p:nvPr/>
        </p:nvSpPr>
        <p:spPr>
          <a:xfrm>
            <a:off x="640080" y="4050792"/>
            <a:ext cx="7863840" cy="566928"/>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33" name="Shape 27"/>
          <p:cNvSpPr/>
          <p:nvPr/>
        </p:nvSpPr>
        <p:spPr>
          <a:xfrm>
            <a:off x="640080" y="4050792"/>
            <a:ext cx="64008" cy="566928"/>
          </a:xfrm>
          <a:prstGeom prst="rect">
            <a:avLst/>
          </a:prstGeom>
          <a:solidFill>
            <a:srgbClr val="0D9488"/>
          </a:solidFill>
          <a:ln/>
        </p:spPr>
        <p:txBody>
          <a:bodyPr/>
          <a:lstStyle/>
          <a:p>
            <a:endParaRPr lang="en-US"/>
          </a:p>
        </p:txBody>
      </p:sp>
      <p:pic>
        <p:nvPicPr>
          <p:cNvPr id="34" name="Image 4" descr="preencoded.png"/>
          <p:cNvPicPr>
            <a:picLocks noChangeAspect="1"/>
          </p:cNvPicPr>
          <p:nvPr/>
        </p:nvPicPr>
        <p:blipFill>
          <a:blip r:embed="rId7"/>
          <a:stretch>
            <a:fillRect/>
          </a:stretch>
        </p:blipFill>
        <p:spPr>
          <a:xfrm>
            <a:off x="914400" y="4151376"/>
            <a:ext cx="365760" cy="365760"/>
          </a:xfrm>
          <a:prstGeom prst="rect">
            <a:avLst/>
          </a:prstGeom>
        </p:spPr>
      </p:pic>
      <p:sp>
        <p:nvSpPr>
          <p:cNvPr id="35" name="Shape 28"/>
          <p:cNvSpPr/>
          <p:nvPr/>
        </p:nvSpPr>
        <p:spPr>
          <a:xfrm>
            <a:off x="1463040" y="4197096"/>
            <a:ext cx="274320" cy="274320"/>
          </a:xfrm>
          <a:prstGeom prst="rect">
            <a:avLst/>
          </a:prstGeom>
          <a:solidFill>
            <a:srgbClr val="FFFFFF"/>
          </a:solidFill>
          <a:ln w="31750">
            <a:solidFill>
              <a:srgbClr val="0D9488"/>
            </a:solidFill>
            <a:prstDash val="solid"/>
          </a:ln>
        </p:spPr>
        <p:txBody>
          <a:bodyPr/>
          <a:lstStyle/>
          <a:p>
            <a:endParaRPr lang="en-US"/>
          </a:p>
        </p:txBody>
      </p:sp>
      <p:sp>
        <p:nvSpPr>
          <p:cNvPr id="36" name="Text 29"/>
          <p:cNvSpPr/>
          <p:nvPr/>
        </p:nvSpPr>
        <p:spPr>
          <a:xfrm>
            <a:off x="1920240" y="4050792"/>
            <a:ext cx="4846320" cy="566928"/>
          </a:xfrm>
          <a:prstGeom prst="rect">
            <a:avLst/>
          </a:prstGeom>
          <a:noFill/>
          <a:ln/>
        </p:spPr>
        <p:txBody>
          <a:bodyPr wrap="square" lIns="0" tIns="0" rIns="0" bIns="0" rtlCol="0" anchor="ctr"/>
          <a:lstStyle/>
          <a:p>
            <a:pPr marL="0" indent="0">
              <a:buNone/>
            </a:pPr>
            <a:r>
              <a:rPr lang="en-US" sz="1500" dirty="0">
                <a:solidFill>
                  <a:srgbClr val="1E293B"/>
                </a:solidFill>
                <a:latin typeface="Calibri" pitchFamily="34" charset="0"/>
                <a:ea typeface="Calibri" pitchFamily="34" charset="-122"/>
                <a:cs typeface="Calibri" pitchFamily="34" charset="-120"/>
              </a:rPr>
              <a:t>Set up an automatic backup for your computer</a:t>
            </a:r>
            <a:endParaRPr lang="en-US" sz="1500" dirty="0"/>
          </a:p>
        </p:txBody>
      </p:sp>
      <p:sp>
        <p:nvSpPr>
          <p:cNvPr id="37" name="Shape 30"/>
          <p:cNvSpPr/>
          <p:nvPr/>
        </p:nvSpPr>
        <p:spPr>
          <a:xfrm>
            <a:off x="7132320" y="4178808"/>
            <a:ext cx="1097280" cy="310896"/>
          </a:xfrm>
          <a:prstGeom prst="rect">
            <a:avLst/>
          </a:prstGeom>
          <a:solidFill>
            <a:srgbClr val="F0FDFA"/>
          </a:solidFill>
          <a:ln/>
        </p:spPr>
        <p:txBody>
          <a:bodyPr/>
          <a:lstStyle/>
          <a:p>
            <a:endParaRPr lang="en-US"/>
          </a:p>
        </p:txBody>
      </p:sp>
      <p:sp>
        <p:nvSpPr>
          <p:cNvPr id="38" name="Text 31"/>
          <p:cNvSpPr/>
          <p:nvPr/>
        </p:nvSpPr>
        <p:spPr>
          <a:xfrm>
            <a:off x="7132320" y="4178808"/>
            <a:ext cx="1097280" cy="310896"/>
          </a:xfrm>
          <a:prstGeom prst="rect">
            <a:avLst/>
          </a:prstGeom>
          <a:noFill/>
          <a:ln/>
        </p:spPr>
        <p:txBody>
          <a:bodyPr wrap="square"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20 min</a:t>
            </a:r>
            <a:endParaRPr lang="en-US" sz="1100" dirty="0"/>
          </a:p>
        </p:txBody>
      </p:sp>
      <p:sp>
        <p:nvSpPr>
          <p:cNvPr id="39" name="Text 32"/>
          <p:cNvSpPr/>
          <p:nvPr/>
        </p:nvSpPr>
        <p:spPr>
          <a:xfrm>
            <a:off x="640080" y="4663440"/>
            <a:ext cx="7863840" cy="320040"/>
          </a:xfrm>
          <a:prstGeom prst="rect">
            <a:avLst/>
          </a:prstGeom>
          <a:noFill/>
          <a:ln/>
        </p:spPr>
        <p:txBody>
          <a:bodyPr wrap="square"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Total time: about 2 hours to dramatically improve your security</a:t>
            </a:r>
            <a:endParaRPr lang="en-US" sz="1600" dirty="0"/>
          </a:p>
        </p:txBody>
      </p:sp>
      <p:sp>
        <p:nvSpPr>
          <p:cNvPr id="40" name="Shape 33"/>
          <p:cNvSpPr/>
          <p:nvPr/>
        </p:nvSpPr>
        <p:spPr>
          <a:xfrm>
            <a:off x="0" y="5052060"/>
            <a:ext cx="9144000" cy="91440"/>
          </a:xfrm>
          <a:prstGeom prst="rect">
            <a:avLst/>
          </a:prstGeom>
          <a:solidFill>
            <a:srgbClr val="0D9488"/>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114800" y="914400"/>
            <a:ext cx="914400" cy="914400"/>
          </a:xfrm>
          <a:prstGeom prst="rect">
            <a:avLst/>
          </a:prstGeom>
        </p:spPr>
      </p:pic>
      <p:sp>
        <p:nvSpPr>
          <p:cNvPr id="4" name="Text 1"/>
          <p:cNvSpPr/>
          <p:nvPr/>
        </p:nvSpPr>
        <p:spPr>
          <a:xfrm>
            <a:off x="731520" y="2011680"/>
            <a:ext cx="7680960" cy="731520"/>
          </a:xfrm>
          <a:prstGeom prst="rect">
            <a:avLst/>
          </a:prstGeom>
          <a:noFill/>
          <a:ln/>
        </p:spPr>
        <p:txBody>
          <a:bodyPr wrap="square" rtlCol="0" anchor="ctr"/>
          <a:lstStyle/>
          <a:p>
            <a:pPr marL="0" indent="0" algn="ctr">
              <a:buNone/>
            </a:pPr>
            <a:r>
              <a:rPr lang="en-US" sz="4200" b="1" dirty="0">
                <a:solidFill>
                  <a:srgbClr val="FFFFFF"/>
                </a:solidFill>
                <a:latin typeface="Georgia" pitchFamily="34" charset="0"/>
                <a:ea typeface="Georgia" pitchFamily="34" charset="-122"/>
                <a:cs typeface="Georgia" pitchFamily="34" charset="-120"/>
              </a:rPr>
              <a:t>Questions?</a:t>
            </a:r>
            <a:endParaRPr lang="en-US" sz="4200" dirty="0"/>
          </a:p>
        </p:txBody>
      </p:sp>
      <p:sp>
        <p:nvSpPr>
          <p:cNvPr id="5" name="Text 2"/>
          <p:cNvSpPr/>
          <p:nvPr/>
        </p:nvSpPr>
        <p:spPr>
          <a:xfrm>
            <a:off x="731520" y="2834640"/>
            <a:ext cx="7680960" cy="457200"/>
          </a:xfrm>
          <a:prstGeom prst="rect">
            <a:avLst/>
          </a:prstGeom>
          <a:noFill/>
          <a:ln/>
        </p:spPr>
        <p:txBody>
          <a:bodyPr wrap="square" rtlCol="0" anchor="ctr"/>
          <a:lstStyle/>
          <a:p>
            <a:pPr marL="0" indent="0" algn="ctr">
              <a:buNone/>
            </a:pPr>
            <a:r>
              <a:rPr lang="en-US" sz="1600" i="1" dirty="0">
                <a:solidFill>
                  <a:srgbClr val="E2E8F0"/>
                </a:solidFill>
                <a:latin typeface="Calibri" pitchFamily="34" charset="0"/>
                <a:ea typeface="Calibri" pitchFamily="34" charset="-122"/>
                <a:cs typeface="Calibri" pitchFamily="34" charset="-120"/>
              </a:rPr>
              <a:t>No question is too basic — if you're wondering, others are too.</a:t>
            </a:r>
            <a:endParaRPr lang="en-US" sz="1600" dirty="0"/>
          </a:p>
        </p:txBody>
      </p:sp>
      <p:sp>
        <p:nvSpPr>
          <p:cNvPr id="6" name="Shape 3"/>
          <p:cNvSpPr/>
          <p:nvPr/>
        </p:nvSpPr>
        <p:spPr>
          <a:xfrm>
            <a:off x="3200400" y="3566160"/>
            <a:ext cx="2743200" cy="0"/>
          </a:xfrm>
          <a:prstGeom prst="line">
            <a:avLst/>
          </a:prstGeom>
          <a:noFill/>
          <a:ln w="25400">
            <a:solidFill>
              <a:srgbClr val="0D9488"/>
            </a:solidFill>
            <a:prstDash val="solid"/>
          </a:ln>
        </p:spPr>
        <p:txBody>
          <a:bodyPr/>
          <a:lstStyle/>
          <a:p>
            <a:endParaRPr lang="en-US"/>
          </a:p>
        </p:txBody>
      </p:sp>
      <p:sp>
        <p:nvSpPr>
          <p:cNvPr id="7" name="Text 4"/>
          <p:cNvSpPr/>
          <p:nvPr/>
        </p:nvSpPr>
        <p:spPr>
          <a:xfrm>
            <a:off x="731520" y="3749040"/>
            <a:ext cx="7680960" cy="365760"/>
          </a:xfrm>
          <a:prstGeom prst="rect">
            <a:avLst/>
          </a:prstGeom>
          <a:noFill/>
          <a:ln/>
        </p:spPr>
        <p:txBody>
          <a:bodyPr wrap="square" rtlCol="0" anchor="ctr"/>
          <a:lstStyle/>
          <a:p>
            <a:pPr marL="0" indent="0" algn="ctr">
              <a:buNone/>
            </a:pPr>
            <a:r>
              <a:rPr lang="en-US" sz="1500" dirty="0">
                <a:solidFill>
                  <a:srgbClr val="14B8A6"/>
                </a:solidFill>
                <a:latin typeface="Calibri" pitchFamily="34" charset="0"/>
                <a:ea typeface="Calibri" pitchFamily="34" charset="-122"/>
                <a:cs typeface="Calibri" pitchFamily="34" charset="-120"/>
              </a:rPr>
              <a:t>Aaron Booker  •  </a:t>
            </a:r>
            <a:r>
              <a:rPr lang="en-US" sz="1500" dirty="0" err="1">
                <a:solidFill>
                  <a:srgbClr val="14B8A6"/>
                </a:solidFill>
                <a:latin typeface="Calibri" pitchFamily="34" charset="0"/>
                <a:ea typeface="Calibri" pitchFamily="34" charset="-122"/>
                <a:cs typeface="Calibri" pitchFamily="34" charset="-120"/>
              </a:rPr>
              <a:t>booker.aaron@gmail.com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1513</Words>
  <Application>Microsoft Macintosh PowerPoint</Application>
  <PresentationFormat>On-screen Show (16:9)</PresentationFormat>
  <Paragraphs>157</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Money, Your Identity, Your Peace of Mind</dc:title>
  <dc:subject>PptxGenJS Presentation</dc:subject>
  <dc:creator>Aaron Booker</dc:creator>
  <cp:lastModifiedBy>Aaron Booker</cp:lastModifiedBy>
  <cp:revision>9</cp:revision>
  <dcterms:created xsi:type="dcterms:W3CDTF">2026-02-23T21:58:58Z</dcterms:created>
  <dcterms:modified xsi:type="dcterms:W3CDTF">2026-02-24T01:12:48Z</dcterms:modified>
</cp:coreProperties>
</file>